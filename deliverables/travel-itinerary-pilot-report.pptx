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RESEARCH FINDINGS  ·  2026-09-16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21284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0">
                <a:solidFill>
                  <a:srgbClr val="1A2332"/>
                </a:solidFill>
                <a:latin typeface="Georgia"/>
              </a:rPr>
              <a:t>Travel Influencer Itinerary Pilot</a:t>
            </a:r>
          </a:p>
          <a:p>
            <a:pPr algn="l">
              <a:spcAft>
                <a:spcPts val="1400"/>
              </a:spcAft>
            </a:pPr>
            <a:r>
              <a:rPr sz="4000" b="0">
                <a:solidFill>
                  <a:srgbClr val="1A2332"/>
                </a:solidFill>
                <a:latin typeface="Georgia"/>
              </a:rPr>
              <a:t>Research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C6678"/>
                </a:solidFill>
                <a:latin typeface="Calibri"/>
              </a:rPr>
              <a:t>Scope: 100 travel creators (50 TikTok, 50 Instagram) and the 94 itineraries extracted from their public sources, stored in a queryable database with a per-itinerary verification record.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A2332"/>
                </a:solidFill>
                <a:latin typeface="Georgia"/>
              </a:rPr>
              <a:t>What was collected, and what was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Collected: </a:t>
            </a:r>
            <a:r>
              <a:rPr sz="1400">
                <a:solidFill>
                  <a:srgbClr val="1A2332"/>
                </a:solidFill>
                <a:latin typeface="Calibri"/>
              </a:rPr>
              <a:t> 100 creators (50 TikTok / 50 Instagram); 94 itineraries; 1,155 itinerary items; 106 cited sources; 85 destinations — all stored in pilot.db with per-itinerary verification records.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Not collected: </a:t>
            </a:r>
            <a:r>
              <a:rPr sz="1400">
                <a:solidFill>
                  <a:srgbClr val="1A2332"/>
                </a:solidFill>
                <a:latin typeface="Calibri"/>
              </a:rPr>
              <a:t> commercial economics, payment percentages, supplier terms, pricing, or demand data. These were explicitly parked and are not part of this research.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This deck: </a:t>
            </a:r>
            <a:r>
              <a:rPr sz="1400">
                <a:solidFill>
                  <a:srgbClr val="1A2332"/>
                </a:solidFill>
                <a:latin typeface="Calibri"/>
              </a:rPr>
              <a:t> an information record of the pilot's findings. It contains no projections, no recommendations, and no calls to action.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A2332"/>
                </a:solidFill>
                <a:latin typeface="Georgia"/>
              </a:rPr>
              <a:t>How the creators and itineraries were gathered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Selection: </a:t>
            </a:r>
            <a:r>
              <a:rPr sz="1400">
                <a:solidFill>
                  <a:srgbClr val="1A2332"/>
                </a:solidFill>
                <a:latin typeface="Calibri"/>
              </a:rPr>
              <a:t> 100 creators, 50 TikTok / 50 Instagram — the 50/50 split is enforced mechanically by load_db.py. The list was compiled 2026-09-15 from third-party "top travel influencer" listicles (e.g. superprofile.bio, diarydirectory.com, travelpayouts.com). No explicit eligibility or exclusion rules were recorded at selection time — see SELECTION_CRITERIA.md.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Extraction: </a:t>
            </a:r>
            <a:r>
              <a:rPr sz="1400">
                <a:solidFill>
                  <a:srgbClr val="1A2332"/>
                </a:solidFill>
                <a:latin typeface="Calibri"/>
              </a:rPr>
              <a:t> itineraries were extracted from each creator's public source pages (blogs, guides, posts) into a normalized schema: itinerary, items, sources, destinations.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Validation: </a:t>
            </a:r>
            <a:r>
              <a:rPr sz="1400">
                <a:solidFill>
                  <a:srgbClr val="1A2332"/>
                </a:solidFill>
                <a:latin typeface="Calibri"/>
              </a:rPr>
              <a:t> 7 validation gates, fail-closed — nothing unverified enters the database. An independent evidence council re-verified the itineraries against live sources on 2026-09-16; corrections are recorded in QC_REPORT_STRENGTHENED.md. 9 records were quarantined (Appendix C).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THE CREATORS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A2332"/>
                </a:solidFill>
                <a:latin typeface="Georgia"/>
              </a:rPr>
              <a:t>Composition of the 100 creators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4206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463040"/>
              </a:tblGrid>
              <a:tr h="19202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Niche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Creators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 anchor="ctr" marL="73152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points-miles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beach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roadtrip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food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guides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9202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cruise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0" y="214884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Platform split: </a:t>
            </a:r>
            <a:r>
              <a:rPr sz="1400">
                <a:solidFill>
                  <a:srgbClr val="1A2332"/>
                </a:solidFill>
                <a:latin typeface="Calibri"/>
              </a:rPr>
              <a:t> 50 TikTok / 50 Instagram.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Follower counts: </a:t>
            </a:r>
            <a:r>
              <a:rPr sz="1400">
                <a:solidFill>
                  <a:srgbClr val="1A2332"/>
                </a:solidFill>
                <a:latin typeface="Calibri"/>
              </a:rPr>
              <a:t> 73 cited by sources, 27 marked unknown — counts are as cited, not independently audited.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Itinerary yield: </a:t>
            </a:r>
            <a:r>
              <a:rPr sz="1400">
                <a:solidFill>
                  <a:srgbClr val="1A2332"/>
                </a:solidFill>
                <a:latin typeface="Calibri"/>
              </a:rPr>
              <a:t> 53 of the 100 creators have at least one extracted itinerary (94 itineraries total).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Quarantined: </a:t>
            </a:r>
            <a:r>
              <a:rPr sz="1400">
                <a:solidFill>
                  <a:srgbClr val="1A2332"/>
                </a:solidFill>
                <a:latin typeface="Calibri"/>
              </a:rPr>
              <a:t> 8 creator records quarantined for identity problems (brand or operator accounts, misattributed content, possible list typos) — see Appendix 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5212080"/>
            <a:ext cx="5852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C6678"/>
                </a:solidFill>
                <a:latin typeface="Calibri"/>
              </a:rPr>
              <a:t>Niche labels are as recorded at compile time; 27 follower counts are unknown and were not estimated.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THE ITINERARIES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A2332"/>
                </a:solidFill>
                <a:latin typeface="Georgia"/>
              </a:rPr>
              <a:t>Composition of the 94 itineraries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694944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3774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Measure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 anchor="ctr" marL="73152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Itinerary items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1,155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Destinations covered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85</a:t>
                      </a:r>
                    </a:p>
                  </a:txBody>
                  <a:tcPr anchor="ctr" marL="73152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Sources cited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106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Trip-length range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1–90 days</a:t>
                      </a:r>
                    </a:p>
                  </a:txBody>
                  <a:tcPr anchor="ctr" marL="73152"/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Trips of 7 days or more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Itineraries with no fixed length (guides, not trips)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1A233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 marL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214884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Longest: </a:t>
            </a:r>
            <a:r>
              <a:rPr sz="1400">
                <a:solidFill>
                  <a:srgbClr val="1A2332"/>
                </a:solidFill>
                <a:latin typeface="Calibri"/>
              </a:rPr>
              <a:t> “3-Month Southeast Asia Itinerary: The Banana Pancake Trail” (90 days).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Note: </a:t>
            </a:r>
            <a:r>
              <a:rPr sz="1400">
                <a:solidFill>
                  <a:srgbClr val="1A2332"/>
                </a:solidFill>
                <a:latin typeface="Calibri"/>
              </a:rPr>
              <a:t> trip-length figures exclude the 19 itineraries whose sources state no fixed length.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A2332"/>
                </a:solidFill>
                <a:latin typeface="Georgia"/>
              </a:rPr>
              <a:t>Confidence levels and verification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4884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72237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every claim checked against the live source; supporting passage recorded</a:t>
                      </a:r>
                    </a:p>
                  </a:txBody>
                  <a:tcPr anchor="ctr" marL="73152"/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source checked; one or more details not independently confirmable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A2332"/>
                          </a:solidFill>
                          <a:latin typeface="Calibri"/>
                        </a:rPr>
                        <a:t>source checked; material details unverifiable or ambiguous</a:t>
                      </a:r>
                    </a:p>
                  </a:txBody>
                  <a:tcPr anchor="ctr" marL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20624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Gates: </a:t>
            </a:r>
            <a:r>
              <a:rPr sz="1400">
                <a:solidFill>
                  <a:srgbClr val="1A2332"/>
                </a:solidFill>
                <a:latin typeface="Calibri"/>
              </a:rPr>
              <a:t> 7 validation gates, fail-closed — identity, platform, source resolution, item extraction, duplication, override review, and final sign-off.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Re-verification: </a:t>
            </a:r>
            <a:r>
              <a:rPr sz="1400">
                <a:solidFill>
                  <a:srgbClr val="1A2332"/>
                </a:solidFill>
                <a:latin typeface="Calibri"/>
              </a:rPr>
              <a:t> an independent evidence council re-verified the itineraries against live sources on 2026-09-16; 10 data corrections were applied (7 fixed, 1 re-verified, 1 quarantined, 1 exclusion).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Audit: </a:t>
            </a:r>
            <a:r>
              <a:rPr sz="1400">
                <a:solidFill>
                  <a:srgbClr val="1A2332"/>
                </a:solidFill>
                <a:latin typeface="Calibri"/>
              </a:rPr>
              <a:t> evidence-only audit: PASS, 2026-09-16.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A2332"/>
                </a:solidFill>
                <a:latin typeface="Georgia"/>
              </a:rPr>
              <a:t>What this data cannot say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Unknowns stay unknown: </a:t>
            </a:r>
            <a:r>
              <a:rPr sz="1400">
                <a:solidFill>
                  <a:srgbClr val="1A2332"/>
                </a:solidFill>
                <a:latin typeface="Calibri"/>
              </a:rPr>
              <a:t> 27 follower counts, plus any prices, dates, or figures not stated by sources, are recorded as unknown — nothing was estimated or invented.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Selection records are thin: </a:t>
            </a:r>
            <a:r>
              <a:rPr sz="1400">
                <a:solidFill>
                  <a:srgbClr val="1A2332"/>
                </a:solidFill>
                <a:latin typeface="Calibri"/>
              </a:rPr>
              <a:t> no eligibility or exclusion rules were documented at selection time; 8 creator records were later quarantined for identity problems.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Follower counts are as-cited: </a:t>
            </a:r>
            <a:r>
              <a:rPr sz="1400">
                <a:solidFill>
                  <a:srgbClr val="1A2332"/>
                </a:solidFill>
                <a:latin typeface="Calibri"/>
              </a:rPr>
              <a:t> they come from source listicles and were not independently audited.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Coverage limits: </a:t>
            </a:r>
            <a:r>
              <a:rPr sz="1400">
                <a:solidFill>
                  <a:srgbClr val="1A2332"/>
                </a:solidFill>
                <a:latin typeface="Calibri"/>
              </a:rPr>
              <a:t> 47 creators have no extracted itinerary; 19 itineraries have no fixed trip length; confidence is low for 5 itineraries.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Out of scope: </a:t>
            </a:r>
            <a:r>
              <a:rPr sz="1400">
                <a:solidFill>
                  <a:srgbClr val="1A2332"/>
                </a:solidFill>
                <a:latin typeface="Calibri"/>
              </a:rPr>
              <a:t> the data says nothing about commercial economics, payment shares, supplier terms, or demand — those were never collected.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REPRODUCIBILITY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0">
                <a:solidFill>
                  <a:srgbClr val="1A2332"/>
                </a:solidFill>
                <a:latin typeface="Georgia"/>
              </a:rPr>
              <a:t>How to re-verify any claim in this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Database: </a:t>
            </a:r>
            <a:r>
              <a:rPr sz="1400">
                <a:solidFill>
                  <a:srgbClr val="1A2332"/>
                </a:solidFill>
                <a:latin typeface="Calibri"/>
              </a:rPr>
              <a:t> travel-influencer-pilot/pilot.db — every number on these slides can be recomputed with a SQL query.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Verification log: </a:t>
            </a:r>
            <a:r>
              <a:rPr sz="1400">
                <a:solidFill>
                  <a:srgbClr val="1A2332"/>
                </a:solidFill>
                <a:latin typeface="Calibri"/>
              </a:rPr>
              <a:t> validation/reports/VERIFICATION_LOG_FULL.md — check date and supporting passage recorded per itinerary.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QC reports: </a:t>
            </a:r>
            <a:r>
              <a:rPr sz="1400">
                <a:solidFill>
                  <a:srgbClr val="1A2332"/>
                </a:solidFill>
                <a:latin typeface="Calibri"/>
              </a:rPr>
              <a:t> validation/reports/QC_REPORT_STRENGTHENED.md — every correction applied, with before/after evidence.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Selection record: </a:t>
            </a:r>
            <a:r>
              <a:rPr sz="1400">
                <a:solidFill>
                  <a:srgbClr val="1A2332"/>
                </a:solidFill>
                <a:latin typeface="Calibri"/>
              </a:rPr>
              <a:t> SELECTION_CRITERIA.md — what is established about creator selection and what was never recorded.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1A2332"/>
                </a:solidFill>
                <a:latin typeface="Calibri"/>
              </a:rPr>
              <a:t>Directory: </a:t>
            </a:r>
            <a:r>
              <a:rPr sz="1400">
                <a:solidFill>
                  <a:srgbClr val="1A2332"/>
                </a:solidFill>
                <a:latin typeface="Calibri"/>
              </a:rPr>
              <a:t> travel-influencers-directory.xlsx — every handle, profile URL, source link, and quarantine reason in one workbook.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7432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4632A"/>
                </a:solidFill>
                <a:latin typeface="Calibri"/>
              </a:rPr>
              <a:t>APPENDIX</a:t>
            </a:r>
          </a:p>
          <a:p>
            <a:pPr algn="l">
              <a:spcAft>
                <a:spcPts val="400"/>
              </a:spcAft>
            </a:pPr>
            <a:r>
              <a:rPr sz="3800" b="0">
                <a:solidFill>
                  <a:srgbClr val="FFFFFF"/>
                </a:solidFill>
                <a:latin typeface="Georgia"/>
              </a:rPr>
              <a:t>Influencer directory,
itinerary index, and quarantine log</a:t>
            </a:r>
          </a:p>
        </p:txBody>
      </p:sp>
      <p:sp>
        <p:nvSpPr>
          <p:cNvPr id="3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A — INFLUENCER DIRECTORY (1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100 creators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Handle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Niche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@adventurouskate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189K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@africansafari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234K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@asiatravel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567K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@backpackersteve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189K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@braidenrex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789K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@budgettraveller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345K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@calsnape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over 800K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@cheaprvliving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234K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@culturalexplorer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234K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@doyoutravel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2.9M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@drewbinsky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2.4M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@emmett_sparling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over 800K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@finduslost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guides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@girlvsglobe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298K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@gypsea_lust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1.8M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beach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@highonlifee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2.1M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@islandhopper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298K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beach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@jessicanabongo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234K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@johnnyjet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567K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points-miles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@jordanhammond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1.2M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A — INFLUENCER DIRECTORY (2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100 creators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Handle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Niche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@karaandnate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1.2M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@latinamericatravel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298K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@lostleblanc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660K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@migrationology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food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@muradosmann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4.3M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@nastasiawong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345K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@nomadicmatt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162.2K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@nomadicmovement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234K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@oceanwanderer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167K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cruise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@oneikathetraveller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189K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@pilotmadeleine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over 1.3M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@rachid_dahnoun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298K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@ricksteves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789K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cultural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@roadtripusa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345K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roadtrip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@sailinglavagabonde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789K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@sorelleamore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1.4M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@taramilktea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1.8M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@terrilyne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189K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@theblondeabroad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1.1M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@thebrokebackpacker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567K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A — INFLUENCER DIRECTORY (3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100 creators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Handle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Niche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@thebucketlistfamily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2.6M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@thecommonwanderer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over 500K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@theplanetd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over 200K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@theslowtraveler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almost 500K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@thesolosociety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145K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@thexblondex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567K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beach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@vanlifeeurope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189K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roadtrip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@wildweroam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167K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@yachtlife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234K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@youngadventuress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instagram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over 200K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@_abbyvogel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@adrian.baias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666K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@alvatheexplorer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@bodiek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245K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@claireandpeter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@courtandnate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1.6M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@danidboyy1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@danmaniel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2.4M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@dinasarraj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138K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@emmaexpedition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A — INFLUENCER DIRECTORY (4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100 creators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Handle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Niche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@erikakullberg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9.3M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points-miles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@footluce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@heyshetravels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@hudsonandemily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479K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@itsjustgizem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38.2K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@jacob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@jordentually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3.7M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@kelseyinlondon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391K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food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@kenxtori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124.5K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@laxtoluxury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@limsawkward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@lindsaypaigestein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@lu_madeline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@madelinestraveling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@madlennaa2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13K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@marcoegius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couples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@marissadaily_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points-miles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@marklharriosn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1.2M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@maxmilespoints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points-miles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@mgtenazas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1.5M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A — INFLUENCER DIRECTORY (5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100 creators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011680"/>
                <a:gridCol w="2011680"/>
                <a:gridCol w="20116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Handle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Followers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Niche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@nikkionherway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@onegirlwandering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124K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@packslight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332.2K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@postcardsfromayana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184K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@rileejsmith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@shetravelledtheworld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@sidewalkerdaily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@sightsofsara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1.4M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@sonia.c.mota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96.3K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@storyofsavannah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@thegermantravelguy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3.1M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@themomtrotter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@thenationalparktravelers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@theworldpursuit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solo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@travelwithjaro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1.3M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@travelwithpat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points-miles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@uzma.mahbub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luxury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@wheelaroundtheworld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218K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@wheretofindme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486.5K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itineraries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@wilderness_addict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tiktok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unknown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adventure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B — ITINERARY INDEX (1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94 itineraries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  <a:gridCol w="10972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Itinerary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Best 3 Day Dubrovnik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@adventurouskate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Two Weeks in Mexico: The BEST Yucatan Road Trip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@adventurouskate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Royal Trek - 7 Days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@asiatravel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Faroe Islands - 7-Day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@backpackersteve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Lapland, Finland - 7-Day Winter Road Trip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@backpackersteve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 days in Phuket - Rainy day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@budgettraveller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BudgetTraveller's Guide to Vorarlberg: A 5 day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@budgettraveller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How to Visit 15 European Cities for less than $350/£300 - Eu…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@budgettraveller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Incredible Beauty: The Grand Circle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@cheaprvliving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Road Trip with my Son and his Girlfriend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@cheaprvliving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Egypt Daily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@claireandpeter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Georgia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@claireandpeter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Jordan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@claireandpeter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Oregon to California Costal Road Trip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@courtandnate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Visit Borneo: Derawan Islands guide by Emmett Sparling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@emmett_sparling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Cotswolds, England: 7-Day Itinerary for First-Time Visitors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@finduslost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New England Fall Road Trip: 7 Days in Vermont &amp; New Hampshire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@finduslost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11 Things To Do In Menorca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@girlvsglobe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Things To Do in Segovia in 48 Hours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@girlvsglobe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Iceland Ring Road Highlights — Perfect 1-2 Week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@hudsonandemily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B — ITINERARY INDEX (2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94 itineraries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  <a:gridCol w="10972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Itinerary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Georgia Trip - Food &amp; Wine small-group trip (Sept 27 - Oct 2…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@jessicanabongo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 Beautiful Bermuda Beaches in 3 Days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@johnnyjet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 Days at Sonoma Wine Country Weekend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@johnnyjet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Best North Coast 500 + Isle of Skye Travel Guide (7 Day 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@jordentually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Italy Vespa Tour (Le Marche, Italy)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@karaandnate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Ultimate Guide to Riding the Trans-Siberian Railway (Mos…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@karaandnate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Perfect 4-day Cornwall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@kelseyinlondon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 Leaf-Peeper's Paradise: Four Days of Fall Foliage Fun in V…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@laxtoluxury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DO NOT GO TO ICELAND... without this itinerary! (9-Day Icela…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@lostleblanc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How To Travel Bali – 14 Days in Paradise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@lostleblanc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How To Travel Milos (Greece's Hidden Gem)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@lostleblanc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 Days in Egypt: Cairo, Nile Cruise &amp; the Red Sea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@marissadaily_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 Days in Japan: First-Timers Route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@marissadaily_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24 Hours in Osaka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@marissadaily_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Maldives on a Budget: Local-Island Stays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@mgtenazas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Ghorepani Poon Hill Trek - Ultimate Guide and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@migrationology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Karakoram Mountains of Pakistan - Guide to the Khunjerab Pass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@migrationology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Top 10 Things to Do in Luang Prabang [Your Perfect One Day I…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@migrationology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Egypt group trip via #FollowMeToTour travel club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@muradosmann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Taiwan travel recommendations (Nataly &amp; Murad Osmann)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@muradosmann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B — ITINERARY INDEX (3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94 itineraries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  <a:gridCol w="10972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Itinerary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Perfect One Week Slovenia Itinerary: Europe's Hidden Gem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@nikkionherway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 10-Day Itinerary Down Sweden's Coast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@nomadicmatt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Croatia: A One-Week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@nomadicmatt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Banff Winter Bucket List - 4 Night Winter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@onegirlwandering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Perfect Two Week Itinerary For Your First Trip to Japan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@onegirlwandering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How to Spend Two Weeks in South Africa, Zambia, and Botswana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@oneikathetraveller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Ultimate One-Week Ghana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@oneikathetraveller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Spring Break in Puerto Rico: Free Itinerary and Budget Break…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@packslight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Abu Dhabi Travel Diary - 3 Days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@pilotmadeleine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Hawaii Travel Diary: Oahu Days 1 &amp; 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@pilotmadeleine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New Zealand: Nelson &amp; Abel Tasman Travel Tips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@pilotmadeleine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French Polynesia Group Trip (Sept 17-24, 2027) with Wander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@postcardsfromayana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Best of Europe in 21 Days Tour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@ricksteves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Rick's Best Three-Week Trip to England by Public Transportat…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@ricksteves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Barcelona: Tapas &amp; Traditions - Favorite Spots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@rileejsmith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Croatia: Hvar &amp; Dubrovnik - Favorite Restaurants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@rileejsmith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Utah Road Trip: 9 Days in the Parks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@roadtripusa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Sail in the Abaco Islands, Bahamas - 7 Day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@sailinglavagabonde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Kyrgyzstan Itinerary: The Perfect 2 Week Trip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@shetravelledtheworld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Northern Italy: Travel Guide and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@shetravelledtheworld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B — ITINERARY INDEX (4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94 itineraries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3552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  <a:gridCol w="10972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Itinerary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Epic Iceland Road Trip Guide - South Coast Mini Guide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@sightsofsara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Tour du Mont Blanc - Day-by-Day Trek Series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@sightsofsara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9-Day Mallorca Travel Guide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@sonia.c.mota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 Perfect Day in Lisbon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@sonia.c.mota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Mysterious Mongolia: self-drive 4x4 adventure with Follow Th…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@sorelleamore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3-Week West Coast USA Road Trip Hotel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@storyofsavannah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Tara Milk Tea's Europe trip highlights (Mykonos and Budva)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@taramilktea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Itinerary for Two Weeks in Morocco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@theblondeabroad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Ultimate 7-Day Cotswolds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@theblondeabroad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Ultimate Oregon Adventure Road Trip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@theblondeabroad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1-Month Southeast Asia Itinerary: Digging in Deeper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@thebrokebackpacker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2-Week Southeast Asia Itinerary: An Epic Getaway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@thebrokebackpacker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3-Month Southeast Asia Itinerary: The Banana Pancake Trail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@thebrokebackpacker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Hawaii family stop (Oahu)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@thebucketlistfamily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Utah Valley Adventures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@thebucketlistfamily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2-Day Great Ocean Road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@thecommonwanderer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7-Day Faroe Islands Road Trip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@thecommonwanderer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St. Croix Family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@themomtrotter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Utah National Parks + Southwest RV Road Trip with Kids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@themomtrotter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 Days in Istanbul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@theplanetd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B — ITINERARY INDEX (5 OF 5)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The 94 itineraries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2537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2377440"/>
                <a:gridCol w="1097280"/>
                <a:gridCol w="1371600"/>
              </a:tblGrid>
              <a:tr h="1691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Itinerary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Days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The Ultimate Seoul Itinerary - 3 Days in Seoul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@theplanetd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Airlie Beach to Port Douglas Road Trip: 9-Day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@theslowtraveler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Epic 3-Day Road Trip along the Great Ocean Road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@theslowtraveler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Yukon Road Trip: Klondike Kluane Loop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@theworldpursuit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How far does $100 get you in Lombok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@travelwithjaro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Wheel Around Taiwan — wheelchair accessibility road journey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@wheelaroundtheworld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Perfect day in Asakusa, Tokyo — 10 best things to do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@wheretofindme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Tokyo Guide — 5-day itinerary eBook (400+ locations, 18 neig…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@wheretofindme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Cinque Terre Day Plan (Levanto Base)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@wildweroam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Portugal trip fragments: Armona 2016 + Berlengas camping 2018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@wildweroam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Southern California 7-Day Yachting 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@yachtlife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Windward Islands 7-Day Yachting Itinerary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@yachtlife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South Island Road Trip - Part 1 (Christchurch to Queenstown)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@youngadventuress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/>
                </a:tc>
              </a:tr>
              <a:tr h="169164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South Island Road Trip - Part 2 (North Coast &amp; Wine Country)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@youngadventuress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A2332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11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4632A"/>
                </a:solidFill>
                <a:latin typeface="Calibri"/>
              </a:rPr>
              <a:t>APPENDIX C — EXCLUSIONS &amp; NOTES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795528"/>
            <a:ext cx="640080" cy="41148"/>
          </a:xfrm>
          <a:prstGeom prst="rect">
            <a:avLst/>
          </a:prstGeom>
          <a:solidFill>
            <a:srgbClr val="B463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>
                <a:solidFill>
                  <a:srgbClr val="1A2332"/>
                </a:solidFill>
                <a:latin typeface="Georgia"/>
              </a:rPr>
              <a:t>Quarantine log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0116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645920"/>
                <a:gridCol w="63093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Handle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Scope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Reason</a:t>
                      </a:r>
                    </a:p>
                  </a:txBody>
                  <a:tcPr anchor="ctr">
                    <a:solidFill>
                      <a:srgbClr val="1A233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@africansafari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May be a brand/tour-operator account rather than an individual creator. Verify account n…</a:t>
                      </a:r>
                    </a:p>
                  </a:txBody>
                  <a:tcPr anchor="ctr" marL="73152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@limsawkward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Handle confirmed real: EF travel blog explicitly names @limsawkward (Alexa, DC travel cr…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@marklharriosn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Possible source-list typo ('harrison'?). Re-verify against the source publication before…</a:t>
                      </a:r>
                    </a:p>
                  </a:txBody>
                  <a:tcPr anchor="ctr" marL="73152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@nastasiawong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Flagged by batch-2 extraction: handle resolves to an unrelated non-travel account. Re-ve…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@nomadicmovement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Flagged by batch-2 extraction: handle resolves to an unrelated non-travel account. Re-ve…</a:t>
                      </a:r>
                    </a:p>
                  </a:txBody>
                  <a:tcPr anchor="ctr" marL="73152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@oceanwanderer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Flagged by batch-2 extraction: handle resolves to an unrelated non-travel account. Re-ve…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@rachid_dahnoun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Flagged by batch-2 extraction: Morocco itineraries found belong to a same-named tour ope…</a:t>
                      </a:r>
                    </a:p>
                  </a:txBody>
                  <a:tcPr anchor="ctr" marL="73152"/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@sidewalkerdaily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creator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Flagged by batch-4 extraction: influencer-marketing consultancy, not a travel creator. E…</a:t>
                      </a:r>
                    </a:p>
                  </a:txBody>
                  <a:tcPr anchor="ctr" marL="73152">
                    <a:solidFill>
                      <a:srgbClr val="F1EBD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@thenationalparktravelers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itinerary</a:t>
                      </a:r>
                    </a:p>
                  </a:txBody>
                  <a:tcPr anchor="ctr" marL="73152"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A2332"/>
                          </a:solidFill>
                          <a:latin typeface="Calibri"/>
                        </a:rPr>
                        <a:t>Full re-verification 2026-09-16 (worker7): UNVERIFIABLE. TikTok video URL unfetchable (r…</a:t>
                      </a:r>
                    </a:p>
                  </a:txBody>
                  <a:tcPr anchor="ctr" marL="73152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C6678"/>
                </a:solidFill>
                <a:latin typeface="Calibri"/>
              </a:rPr>
              <a:t>“Unknown” means unknown — follower counts, prices, and dates were never invented. Discrepancies were fixed before sign-off, never overridden.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C6678"/>
                </a:solidFill>
                <a:latin typeface="Calibri"/>
              </a:rPr>
              <a:t>Travel Influencer Itinerary Pilot — Research Findings  •  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